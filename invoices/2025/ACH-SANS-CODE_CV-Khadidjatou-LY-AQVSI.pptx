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7562850" cy="10688638"/>
  <p:notesSz cx="6797675" cy="9926638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8250"/>
    <a:srgbClr val="EBDDCD"/>
    <a:srgbClr val="C9A175"/>
    <a:srgbClr val="BE8C66"/>
    <a:srgbClr val="404042"/>
    <a:srgbClr val="CA9D78"/>
    <a:srgbClr val="B1894F"/>
    <a:srgbClr val="9DBE62"/>
    <a:srgbClr val="A2D87E"/>
    <a:srgbClr val="B6F5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8767A-286D-48C8-AF1C-20A0A73BEFF0}" v="33" dt="2024-04-28T14:19:58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0"/>
    <p:restoredTop sz="94586"/>
  </p:normalViewPr>
  <p:slideViewPr>
    <p:cSldViewPr snapToGrid="0" snapToObjects="1">
      <p:cViewPr>
        <p:scale>
          <a:sx n="100" d="100"/>
          <a:sy n="100" d="100"/>
        </p:scale>
        <p:origin x="1757" y="72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F9852-8A9D-FA43-9BC6-1FE6D867865C}" type="datetimeFigureOut">
              <a:rPr lang="fr-FR"/>
              <a:pPr/>
              <a:t>03/06/2025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8FC55-56A1-8E40-9B86-97BA77CFC2EF}" type="slidenum">
              <a:rPr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4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8FC55-56A1-8E40-9B86-97BA77CFC2EF}" type="slidenum">
              <a:rPr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87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178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2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58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213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89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72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184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15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61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07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26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0904D-930F-FD46-A326-BF7152BF9E0A}" type="datetimeFigureOut">
              <a:rPr lang="fr-FR" smtClean="0"/>
              <a:pPr/>
              <a:t>03/06/2025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BAB27-56FE-0F4B-AD23-F85EC639443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09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lykhadidjatou@gmail.com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/>
          <p:cNvSpPr/>
          <p:nvPr/>
        </p:nvSpPr>
        <p:spPr>
          <a:xfrm>
            <a:off x="2108200" y="2090539"/>
            <a:ext cx="860786" cy="8597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-12700" y="9287933"/>
            <a:ext cx="2120900" cy="13991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-12700" y="2322936"/>
            <a:ext cx="2120900" cy="68960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960" y="167658"/>
            <a:ext cx="7296769" cy="19085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9300" y="615145"/>
            <a:ext cx="5254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4">
                    <a:lumMod val="75000"/>
                  </a:schemeClr>
                </a:solidFill>
              </a:rPr>
              <a:t>Khadidjatou</a:t>
            </a: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 LY</a:t>
            </a:r>
            <a:endParaRPr lang="fr-FR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019299" y="1225317"/>
            <a:ext cx="5168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Assurance  </a:t>
            </a:r>
            <a:r>
              <a:rPr lang="en-US" sz="1600" dirty="0" err="1"/>
              <a:t>Qualité</a:t>
            </a:r>
            <a:r>
              <a:rPr lang="en-US" sz="1600" dirty="0"/>
              <a:t> </a:t>
            </a:r>
            <a:r>
              <a:rPr lang="en-US" sz="1600" dirty="0" err="1"/>
              <a:t>Systèmes</a:t>
            </a:r>
            <a:r>
              <a:rPr lang="en-US" sz="1600" dirty="0"/>
              <a:t> </a:t>
            </a:r>
            <a:r>
              <a:rPr lang="en-US" sz="1600" dirty="0" err="1"/>
              <a:t>Informatisés</a:t>
            </a:r>
            <a:r>
              <a:rPr lang="en-US" sz="1600" dirty="0"/>
              <a:t> </a:t>
            </a:r>
            <a:endParaRPr lang="en-US" sz="11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120900" y="1221723"/>
            <a:ext cx="5067300" cy="0"/>
          </a:xfrm>
          <a:prstGeom prst="line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-12700" y="2034804"/>
            <a:ext cx="7575550" cy="0"/>
          </a:xfrm>
          <a:prstGeom prst="line">
            <a:avLst/>
          </a:prstGeom>
          <a:ln w="76200">
            <a:solidFill>
              <a:schemeClr val="accent4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551841"/>
              </p:ext>
            </p:extLst>
          </p:nvPr>
        </p:nvGraphicFramePr>
        <p:xfrm>
          <a:off x="-85490" y="2566702"/>
          <a:ext cx="3225102" cy="4949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32900">
                <a:tc>
                  <a:txBody>
                    <a:bodyPr/>
                    <a:lstStyle/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Gestion</a:t>
                      </a: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de projet</a:t>
                      </a: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endParaRPr lang="fr-FR" sz="1200" b="0" i="0" baseline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Coordination </a:t>
                      </a: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endParaRPr lang="fr-FR" sz="1200" b="0" i="0" baseline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  <a:p>
                      <a:pPr marL="7938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Audit Rapport/Revue des tests </a:t>
                      </a:r>
                    </a:p>
                    <a:p>
                      <a:pPr marL="7938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endParaRPr lang="fr-FR" sz="1200" b="0" i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Gestion des évènements qualité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020">
                <a:tc>
                  <a:txBody>
                    <a:bodyPr/>
                    <a:lstStyle/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Qualification et </a:t>
                      </a:r>
                      <a:endParaRPr lang="fr-FR" sz="1200" b="0" i="0" baseline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Validation</a:t>
                      </a: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système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de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80">
                <a:tc>
                  <a:txBody>
                    <a:bodyPr/>
                    <a:lstStyle/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Formatrice</a:t>
                      </a: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(Data </a:t>
                      </a:r>
                      <a:r>
                        <a:rPr lang="fr-FR" sz="1200" b="0" i="0" baseline="0" noProof="0" dirty="0" err="1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Integrity</a:t>
                      </a: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)</a:t>
                      </a:r>
                      <a:endParaRPr lang="fr-FR" sz="1200" b="0" i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80">
                <a:tc>
                  <a:txBody>
                    <a:bodyPr/>
                    <a:lstStyle/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BPF/annexe</a:t>
                      </a: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11</a:t>
                      </a:r>
                      <a:endParaRPr lang="fr-FR" sz="1200" b="0" i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020">
                <a:tc>
                  <a:txBody>
                    <a:bodyPr/>
                    <a:lstStyle/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Outils: </a:t>
                      </a:r>
                      <a:r>
                        <a:rPr lang="fr-FR" sz="1200" b="0" i="0" noProof="0" dirty="0" err="1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Qualipso</a:t>
                      </a: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/Phenix</a:t>
                      </a:r>
                      <a:r>
                        <a:rPr lang="fr-FR" sz="12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/</a:t>
                      </a: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Snow/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noProof="0" dirty="0" err="1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GeodIS</a:t>
                      </a:r>
                      <a:r>
                        <a:rPr lang="fr-FR" sz="12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/PUMA/Pack office/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200" b="0" i="0" noProof="0" dirty="0" err="1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AdobeSign</a:t>
                      </a:r>
                      <a:endParaRPr lang="fr-FR" sz="1200" b="0" i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80">
                <a:tc>
                  <a:txBody>
                    <a:bodyPr/>
                    <a:lstStyle/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endParaRPr lang="fr-FR" sz="1400" b="0" i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560">
                <a:tc>
                  <a:txBody>
                    <a:bodyPr/>
                    <a:lstStyle/>
                    <a:p>
                      <a:pPr marL="7938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4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Français </a:t>
                      </a:r>
                      <a:endParaRPr lang="fr-FR" sz="1400" b="0" i="0" noProof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4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Anglais</a:t>
                      </a: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400" b="0" i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Wolof</a:t>
                      </a:r>
                    </a:p>
                    <a:p>
                      <a:pPr marL="7938" indent="0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400" b="0" i="0" baseline="0" noProof="0" dirty="0">
                          <a:solidFill>
                            <a:schemeClr val="tx1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Pulaar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8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377430"/>
              </p:ext>
            </p:extLst>
          </p:nvPr>
        </p:nvGraphicFramePr>
        <p:xfrm>
          <a:off x="-87781" y="9247962"/>
          <a:ext cx="21209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991">
                <a:tc>
                  <a:txBody>
                    <a:bodyPr/>
                    <a:lstStyle/>
                    <a:p>
                      <a:pPr marL="7938" indent="0" algn="ctr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050" b="1" kern="1200" baseline="0" noProof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Téléphone</a:t>
                      </a:r>
                      <a:r>
                        <a:rPr lang="fr-FR" sz="1100" b="1" i="0" noProof="0" dirty="0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: +33 6 </a:t>
                      </a:r>
                      <a:r>
                        <a:rPr lang="fr-FR" sz="1100" b="1" i="0" baseline="0" noProof="0" dirty="0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63</a:t>
                      </a:r>
                      <a:r>
                        <a:rPr lang="fr-FR" sz="1100" b="1" i="0" noProof="0" dirty="0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 53 87 73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91">
                <a:tc>
                  <a:txBody>
                    <a:bodyPr/>
                    <a:lstStyle/>
                    <a:p>
                      <a:pPr marL="7938" indent="0" algn="ctr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050" b="1" kern="1200" baseline="0" noProof="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fr-FR" sz="1100" b="1" i="0" kern="1200" noProof="0" dirty="0" err="1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:</a:t>
                      </a:r>
                      <a:r>
                        <a:rPr lang="fr-FR" sz="1100" b="1" i="0" noProof="0" dirty="0" err="1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  <a:hlinkClick r:id="rId3"/>
                        </a:rPr>
                        <a:t>lykhadidjatou@gmail.com</a:t>
                      </a:r>
                      <a:endParaRPr lang="fr-FR" sz="1100" b="1" i="0" noProof="0" dirty="0">
                        <a:solidFill>
                          <a:srgbClr val="404042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75">
                <a:tc>
                  <a:txBody>
                    <a:bodyPr/>
                    <a:lstStyle/>
                    <a:p>
                      <a:pPr marL="7938" indent="0" algn="ctr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050" b="1" kern="1200" baseline="0" noProof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Adresse Postale</a:t>
                      </a:r>
                      <a:r>
                        <a:rPr lang="fr-FR" sz="1100" b="1" i="0" noProof="0" dirty="0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: 21, rue du Long Foin 91700 Sainte Geneviève des bois- France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892398"/>
              </p:ext>
            </p:extLst>
          </p:nvPr>
        </p:nvGraphicFramePr>
        <p:xfrm>
          <a:off x="2104140" y="7393900"/>
          <a:ext cx="5367967" cy="1755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4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01745">
                <a:tc>
                  <a:txBody>
                    <a:bodyPr/>
                    <a:lstStyle/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/>
                        <a:t>Janvier - Juin</a:t>
                      </a:r>
                      <a:endParaRPr lang="fr-FR" sz="1100" b="1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/>
                        <a:t>2014</a:t>
                      </a:r>
                      <a:endParaRPr lang="fr-FR" sz="1100" b="1" i="0" dirty="0">
                        <a:solidFill>
                          <a:srgbClr val="58585A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marL="86222" marR="86222" marT="43111" marB="43111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Clr>
                          <a:srgbClr val="00B050"/>
                        </a:buClr>
                        <a:buSzPct val="100000"/>
                        <a:buFont typeface="Courier New" charset="0"/>
                        <a:buNone/>
                        <a:tabLst/>
                      </a:pPr>
                      <a:r>
                        <a:rPr lang="fr-FR" sz="1100" b="1" dirty="0"/>
                        <a:t>Ingénieure de recherche à l’</a:t>
                      </a:r>
                      <a:r>
                        <a:rPr lang="fr-FR" sz="105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INRA (Institut National de la Recherche Agronomique)  de Dijon, stage</a:t>
                      </a:r>
                      <a:endParaRPr lang="fr-FR" sz="1100" b="1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1" u="sng" kern="1200" dirty="0"/>
                        <a:t>Missions</a:t>
                      </a:r>
                      <a:r>
                        <a:rPr lang="en-GB" sz="1100" kern="1200" dirty="0"/>
                        <a:t> : Etude</a:t>
                      </a:r>
                      <a:r>
                        <a:rPr lang="en-GB" sz="1100" kern="1200" baseline="0" dirty="0"/>
                        <a:t> de </a:t>
                      </a:r>
                      <a:r>
                        <a:rPr lang="en-GB" sz="1100" kern="1200" baseline="0" dirty="0" err="1"/>
                        <a:t>l’implication</a:t>
                      </a:r>
                      <a:r>
                        <a:rPr lang="en-GB" sz="1100" kern="1200" baseline="0" dirty="0"/>
                        <a:t> de la </a:t>
                      </a:r>
                      <a:r>
                        <a:rPr lang="en-GB" sz="1100" kern="1200" baseline="0" dirty="0" err="1"/>
                        <a:t>plasticité</a:t>
                      </a:r>
                      <a:r>
                        <a:rPr lang="en-GB" sz="1100" kern="1200" baseline="0" dirty="0"/>
                        <a:t> </a:t>
                      </a:r>
                      <a:r>
                        <a:rPr lang="en-GB" sz="1100" kern="1200" baseline="0" dirty="0" err="1"/>
                        <a:t>cérébrale</a:t>
                      </a:r>
                      <a:r>
                        <a:rPr lang="en-GB" sz="1100" kern="1200" baseline="0" dirty="0"/>
                        <a:t> dans la prise </a:t>
                      </a:r>
                      <a:r>
                        <a:rPr lang="en-GB" sz="1100" kern="1200" baseline="0" dirty="0" err="1"/>
                        <a:t>alimentaire</a:t>
                      </a:r>
                      <a:r>
                        <a:rPr lang="en-GB" sz="1100" kern="1200" baseline="0" dirty="0"/>
                        <a:t> à la suite </a:t>
                      </a:r>
                      <a:r>
                        <a:rPr lang="en-GB" sz="1100" kern="1200" baseline="0" dirty="0" err="1"/>
                        <a:t>d’épisodes</a:t>
                      </a:r>
                      <a:r>
                        <a:rPr lang="en-GB" sz="1100" kern="1200" baseline="0" dirty="0"/>
                        <a:t> </a:t>
                      </a:r>
                      <a:r>
                        <a:rPr lang="en-GB" sz="1100" kern="1200" baseline="0" dirty="0" err="1"/>
                        <a:t>d’hypoglycémie</a:t>
                      </a:r>
                      <a:r>
                        <a:rPr lang="en-GB" sz="1100" kern="1200" baseline="0" dirty="0"/>
                        <a:t>: </a:t>
                      </a:r>
                      <a:r>
                        <a:rPr lang="en-GB" sz="1100" b="1" kern="1200" baseline="0" dirty="0" err="1"/>
                        <a:t>Diabéte</a:t>
                      </a:r>
                      <a:r>
                        <a:rPr lang="en-GB" sz="1100" b="1" kern="1200" baseline="0" dirty="0"/>
                        <a:t> de Type 2 </a:t>
                      </a:r>
                    </a:p>
                    <a:p>
                      <a:pPr marL="171450" indent="-171450" algn="l"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GB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Mise en place </a:t>
                      </a:r>
                      <a:r>
                        <a:rPr lang="en-GB" sz="1100" kern="1200" baseline="0" dirty="0"/>
                        <a:t>d’un </a:t>
                      </a:r>
                      <a:r>
                        <a:rPr lang="en-GB" sz="1100" kern="1200" baseline="0" dirty="0" err="1"/>
                        <a:t>protocole</a:t>
                      </a:r>
                      <a:r>
                        <a:rPr lang="en-GB" sz="1100" kern="1200" baseline="0" dirty="0"/>
                        <a:t> de test </a:t>
                      </a:r>
                    </a:p>
                    <a:p>
                      <a:pPr marL="171450" indent="-171450" algn="l"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GB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Planification et </a:t>
                      </a:r>
                      <a:r>
                        <a:rPr lang="en-GB" sz="1050" b="1" kern="1200" baseline="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éxecution</a:t>
                      </a:r>
                      <a:r>
                        <a:rPr lang="en-GB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100" kern="1200" baseline="0" dirty="0"/>
                        <a:t>de tests </a:t>
                      </a:r>
                      <a:r>
                        <a:rPr lang="en-GB" sz="1100" kern="1200" baseline="0" dirty="0" err="1"/>
                        <a:t>expérimentaux</a:t>
                      </a:r>
                      <a:r>
                        <a:rPr lang="en-GB" sz="1100" kern="1200" baseline="0" dirty="0"/>
                        <a:t> : injection </a:t>
                      </a:r>
                      <a:r>
                        <a:rPr lang="en-GB" sz="1100" kern="1200" baseline="0" dirty="0" err="1"/>
                        <a:t>d’insuline</a:t>
                      </a:r>
                      <a:r>
                        <a:rPr lang="en-GB" sz="1100" kern="1200" baseline="0" dirty="0"/>
                        <a:t>, </a:t>
                      </a:r>
                      <a:r>
                        <a:rPr lang="en-GB" sz="1100" kern="1200" baseline="0" dirty="0" err="1"/>
                        <a:t>mesure</a:t>
                      </a:r>
                      <a:r>
                        <a:rPr lang="en-GB" sz="1100" kern="1200" baseline="0" dirty="0"/>
                        <a:t> de la </a:t>
                      </a:r>
                      <a:r>
                        <a:rPr lang="en-GB" sz="1100" kern="1200" baseline="0" dirty="0" err="1"/>
                        <a:t>glycémie</a:t>
                      </a:r>
                      <a:r>
                        <a:rPr lang="en-GB" sz="1100" kern="1200" baseline="0" dirty="0"/>
                        <a:t> , </a:t>
                      </a:r>
                      <a:r>
                        <a:rPr lang="en-GB" sz="1100" kern="1200" baseline="0" dirty="0" err="1"/>
                        <a:t>chirurgie</a:t>
                      </a:r>
                      <a:r>
                        <a:rPr lang="en-GB" sz="1100" kern="1200" baseline="0" dirty="0"/>
                        <a:t> </a:t>
                      </a:r>
                      <a:r>
                        <a:rPr lang="en-GB" sz="1100" kern="1200" baseline="0" dirty="0" err="1"/>
                        <a:t>cérébrale</a:t>
                      </a:r>
                      <a:r>
                        <a:rPr lang="en-GB" sz="1100" kern="1200" baseline="0" dirty="0"/>
                        <a:t> (</a:t>
                      </a:r>
                      <a:r>
                        <a:rPr lang="en-GB" sz="1100" kern="1200" baseline="0" dirty="0" err="1"/>
                        <a:t>stéréotaxie</a:t>
                      </a:r>
                      <a:r>
                        <a:rPr lang="en-GB" sz="1100" kern="1200" baseline="0" dirty="0"/>
                        <a:t>) .</a:t>
                      </a:r>
                    </a:p>
                    <a:p>
                      <a:pPr marL="171450" indent="-171450" algn="l"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GB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Analyse et </a:t>
                      </a:r>
                      <a:r>
                        <a:rPr lang="en-GB" sz="1050" b="1" kern="1200" baseline="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synthèse</a:t>
                      </a:r>
                      <a:r>
                        <a:rPr lang="en-GB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100" kern="1200" baseline="0" dirty="0"/>
                        <a:t>des </a:t>
                      </a:r>
                      <a:r>
                        <a:rPr lang="en-GB" sz="1100" kern="1200" baseline="0" dirty="0" err="1"/>
                        <a:t>résultats</a:t>
                      </a:r>
                      <a:endParaRPr lang="en-GB" sz="1100" kern="1200" baseline="0" dirty="0"/>
                    </a:p>
                    <a:p>
                      <a:pPr marL="0" indent="0" algn="l"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100" b="1" kern="1200" baseline="0" dirty="0" err="1"/>
                        <a:t>Résultat</a:t>
                      </a:r>
                      <a:r>
                        <a:rPr lang="en-GB" sz="1100" kern="1200" baseline="0" dirty="0"/>
                        <a:t> : Obtention d’un </a:t>
                      </a:r>
                      <a:r>
                        <a:rPr lang="en-GB" sz="1100" kern="1200" baseline="0" dirty="0" err="1"/>
                        <a:t>modèle</a:t>
                      </a:r>
                      <a:r>
                        <a:rPr lang="en-GB" sz="1100" kern="1200" baseline="0" dirty="0"/>
                        <a:t> animal avec des </a:t>
                      </a:r>
                      <a:r>
                        <a:rPr lang="en-GB" sz="1100" kern="1200" baseline="0" dirty="0" err="1"/>
                        <a:t>défauts</a:t>
                      </a:r>
                      <a:r>
                        <a:rPr lang="en-GB" sz="1100" kern="1200" baseline="0" dirty="0"/>
                        <a:t> de </a:t>
                      </a:r>
                      <a:r>
                        <a:rPr lang="en-GB" sz="1100" kern="1200" baseline="0" dirty="0" err="1"/>
                        <a:t>contre</a:t>
                      </a:r>
                      <a:r>
                        <a:rPr lang="en-GB" sz="1100" kern="1200" baseline="0" dirty="0"/>
                        <a:t>-regulation</a:t>
                      </a:r>
                      <a:endParaRPr lang="en-GB" sz="1100" b="0" i="0" kern="1200" baseline="0" dirty="0">
                        <a:solidFill>
                          <a:schemeClr val="tx1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marL="86222" marR="86222" marT="43111" marB="431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Groupe 12"/>
          <p:cNvGrpSpPr/>
          <p:nvPr/>
        </p:nvGrpSpPr>
        <p:grpSpPr>
          <a:xfrm>
            <a:off x="1769" y="2118104"/>
            <a:ext cx="1936750" cy="491490"/>
            <a:chOff x="-12700" y="2874195"/>
            <a:chExt cx="1936750" cy="491490"/>
          </a:xfrm>
        </p:grpSpPr>
        <p:sp>
          <p:nvSpPr>
            <p:cNvPr id="9" name="Rectangle 8"/>
            <p:cNvSpPr/>
            <p:nvPr/>
          </p:nvSpPr>
          <p:spPr>
            <a:xfrm>
              <a:off x="-12700" y="3005640"/>
              <a:ext cx="1936750" cy="227043"/>
            </a:xfrm>
            <a:custGeom>
              <a:avLst/>
              <a:gdLst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936750 w 1936750"/>
                <a:gd name="connsiteY2" fmla="*/ 2270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587500 w 1936750"/>
                <a:gd name="connsiteY2" fmla="*/ 1381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511300 w 1936750"/>
                <a:gd name="connsiteY2" fmla="*/ 2270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771650 w 1936750"/>
                <a:gd name="connsiteY2" fmla="*/ 2270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6750" h="227043">
                  <a:moveTo>
                    <a:pt x="0" y="0"/>
                  </a:moveTo>
                  <a:lnTo>
                    <a:pt x="1936750" y="0"/>
                  </a:lnTo>
                  <a:lnTo>
                    <a:pt x="1771650" y="227043"/>
                  </a:lnTo>
                  <a:lnTo>
                    <a:pt x="0" y="227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1200"/>
              <a:r>
                <a:rPr lang="en-US" sz="1400" b="1" dirty="0" err="1"/>
                <a:t>Compétences</a:t>
              </a:r>
              <a:endParaRPr lang="en-US" sz="1400" b="1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156210" y="2874195"/>
              <a:ext cx="491490" cy="49149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109" y="2965641"/>
              <a:ext cx="317492" cy="317492"/>
            </a:xfrm>
            <a:prstGeom prst="rect">
              <a:avLst/>
            </a:prstGeom>
          </p:spPr>
        </p:pic>
      </p:grpSp>
      <p:grpSp>
        <p:nvGrpSpPr>
          <p:cNvPr id="16" name="Groupe 15"/>
          <p:cNvGrpSpPr/>
          <p:nvPr/>
        </p:nvGrpSpPr>
        <p:grpSpPr>
          <a:xfrm>
            <a:off x="1769" y="5941690"/>
            <a:ext cx="1936750" cy="491490"/>
            <a:chOff x="-12700" y="6869678"/>
            <a:chExt cx="1936750" cy="491490"/>
          </a:xfrm>
        </p:grpSpPr>
        <p:sp>
          <p:nvSpPr>
            <p:cNvPr id="62" name="Rectangle 8"/>
            <p:cNvSpPr/>
            <p:nvPr/>
          </p:nvSpPr>
          <p:spPr>
            <a:xfrm>
              <a:off x="-12700" y="7001123"/>
              <a:ext cx="1936750" cy="227043"/>
            </a:xfrm>
            <a:custGeom>
              <a:avLst/>
              <a:gdLst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936750 w 1936750"/>
                <a:gd name="connsiteY2" fmla="*/ 2270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587500 w 1936750"/>
                <a:gd name="connsiteY2" fmla="*/ 1381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511300 w 1936750"/>
                <a:gd name="connsiteY2" fmla="*/ 2270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  <a:gd name="connsiteX0" fmla="*/ 0 w 1936750"/>
                <a:gd name="connsiteY0" fmla="*/ 0 h 227043"/>
                <a:gd name="connsiteX1" fmla="*/ 1936750 w 1936750"/>
                <a:gd name="connsiteY1" fmla="*/ 0 h 227043"/>
                <a:gd name="connsiteX2" fmla="*/ 1771650 w 1936750"/>
                <a:gd name="connsiteY2" fmla="*/ 227043 h 227043"/>
                <a:gd name="connsiteX3" fmla="*/ 0 w 1936750"/>
                <a:gd name="connsiteY3" fmla="*/ 227043 h 227043"/>
                <a:gd name="connsiteX4" fmla="*/ 0 w 1936750"/>
                <a:gd name="connsiteY4" fmla="*/ 0 h 22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6750" h="227043">
                  <a:moveTo>
                    <a:pt x="0" y="0"/>
                  </a:moveTo>
                  <a:lnTo>
                    <a:pt x="1936750" y="0"/>
                  </a:lnTo>
                  <a:lnTo>
                    <a:pt x="1771650" y="227043"/>
                  </a:lnTo>
                  <a:lnTo>
                    <a:pt x="0" y="227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711200"/>
              <a:r>
                <a:rPr lang="en-US" sz="1400" b="1" dirty="0" err="1">
                  <a:solidFill>
                    <a:schemeClr val="tx1"/>
                  </a:solidFill>
                </a:rPr>
                <a:t>Langues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156210" y="6869678"/>
              <a:ext cx="491490" cy="49149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404042"/>
                </a:solidFill>
              </a:endParaRP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577" y="6952977"/>
              <a:ext cx="317492" cy="317492"/>
            </a:xfrm>
            <a:prstGeom prst="rect">
              <a:avLst/>
            </a:prstGeom>
          </p:spPr>
        </p:pic>
      </p:grpSp>
      <p:grpSp>
        <p:nvGrpSpPr>
          <p:cNvPr id="12" name="Groupe 11"/>
          <p:cNvGrpSpPr/>
          <p:nvPr/>
        </p:nvGrpSpPr>
        <p:grpSpPr>
          <a:xfrm>
            <a:off x="2334757" y="2105696"/>
            <a:ext cx="3698839" cy="415986"/>
            <a:chOff x="2436147" y="2852147"/>
            <a:chExt cx="3698839" cy="415986"/>
          </a:xfrm>
        </p:grpSpPr>
        <p:sp>
          <p:nvSpPr>
            <p:cNvPr id="97" name="Oval 96"/>
            <p:cNvSpPr/>
            <p:nvPr/>
          </p:nvSpPr>
          <p:spPr>
            <a:xfrm>
              <a:off x="2436147" y="2852147"/>
              <a:ext cx="415986" cy="415986"/>
            </a:xfrm>
            <a:prstGeom prst="ellipse">
              <a:avLst/>
            </a:prstGeom>
            <a:solidFill>
              <a:srgbClr val="404042"/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119437" y="2852147"/>
              <a:ext cx="301554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solidFill>
                    <a:schemeClr val="accent4">
                      <a:lumMod val="75000"/>
                    </a:schemeClr>
                  </a:solidFill>
                </a:rPr>
                <a:t>EXPERIENCES PROFESSIONNELLES</a:t>
              </a: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8625" y="2948607"/>
              <a:ext cx="212286" cy="212286"/>
            </a:xfrm>
            <a:prstGeom prst="rect">
              <a:avLst/>
            </a:prstGeom>
          </p:spPr>
        </p:pic>
      </p:grpSp>
      <p:grpSp>
        <p:nvGrpSpPr>
          <p:cNvPr id="7" name="Groupe 6"/>
          <p:cNvGrpSpPr/>
          <p:nvPr/>
        </p:nvGrpSpPr>
        <p:grpSpPr>
          <a:xfrm>
            <a:off x="2316836" y="9088741"/>
            <a:ext cx="3403189" cy="377514"/>
            <a:chOff x="2482515" y="7558321"/>
            <a:chExt cx="3403189" cy="377514"/>
          </a:xfrm>
        </p:grpSpPr>
        <p:sp>
          <p:nvSpPr>
            <p:cNvPr id="98" name="Oval 97"/>
            <p:cNvSpPr/>
            <p:nvPr/>
          </p:nvSpPr>
          <p:spPr>
            <a:xfrm>
              <a:off x="2482515" y="7558321"/>
              <a:ext cx="428040" cy="336790"/>
            </a:xfrm>
            <a:prstGeom prst="ellipse">
              <a:avLst/>
            </a:prstGeom>
            <a:solidFill>
              <a:srgbClr val="404042"/>
            </a:solidFill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6779" y="7612670"/>
              <a:ext cx="282892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solidFill>
                    <a:schemeClr val="accent4">
                      <a:lumMod val="75000"/>
                    </a:schemeClr>
                  </a:solidFill>
                </a:rPr>
                <a:t>FORMATIONS </a:t>
              </a:r>
            </a:p>
          </p:txBody>
        </p:sp>
        <p:pic>
          <p:nvPicPr>
            <p:cNvPr id="225" name="Picture 22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019" y="7625629"/>
              <a:ext cx="269724" cy="269724"/>
            </a:xfrm>
            <a:prstGeom prst="rect">
              <a:avLst/>
            </a:prstGeom>
          </p:spPr>
        </p:pic>
      </p:grpSp>
      <p:sp>
        <p:nvSpPr>
          <p:cNvPr id="2" name="Rectangle à coins arrondis 1"/>
          <p:cNvSpPr/>
          <p:nvPr/>
        </p:nvSpPr>
        <p:spPr>
          <a:xfrm>
            <a:off x="391563" y="8740735"/>
            <a:ext cx="1307295" cy="296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542931" y="8697086"/>
            <a:ext cx="1046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938" indent="0">
              <a:lnSpc>
                <a:spcPct val="100000"/>
              </a:lnSpc>
              <a:buFont typeface="Courier New" charset="0"/>
              <a:buNone/>
              <a:tabLst/>
            </a:pPr>
            <a:r>
              <a:rPr lang="fr-FR" dirty="0">
                <a:ea typeface="Times New Roman" charset="0"/>
                <a:cs typeface="Times New Roman" charset="0"/>
              </a:rPr>
              <a:t>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-12700" y="0"/>
            <a:ext cx="7575550" cy="4428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5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40374"/>
              </p:ext>
            </p:extLst>
          </p:nvPr>
        </p:nvGraphicFramePr>
        <p:xfrm>
          <a:off x="2053310" y="9381638"/>
          <a:ext cx="5344634" cy="1338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670">
                <a:tc>
                  <a:txBody>
                    <a:bodyPr/>
                    <a:lstStyle/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aseline="0" dirty="0"/>
                        <a:t> </a:t>
                      </a:r>
                      <a:r>
                        <a:rPr lang="fr-FR" sz="1100" b="1" dirty="0"/>
                        <a:t>2015-2017</a:t>
                      </a:r>
                    </a:p>
                  </a:txBody>
                  <a:tcPr marL="86222" marR="86222" marT="43111" marB="43111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Clr>
                          <a:srgbClr val="00B050"/>
                        </a:buClr>
                        <a:buSzPct val="100000"/>
                        <a:buFont typeface="Courier New" charset="0"/>
                        <a:buNone/>
                        <a:tabLst/>
                      </a:pPr>
                      <a:r>
                        <a:rPr lang="fr-FR" sz="1100" b="1" dirty="0"/>
                        <a:t>MBA  </a:t>
                      </a:r>
                      <a:r>
                        <a:rPr lang="fr-FR" sz="1100" b="1" baseline="0" dirty="0"/>
                        <a:t> </a:t>
                      </a:r>
                      <a:r>
                        <a:rPr lang="fr-FR" sz="1100" b="1" dirty="0"/>
                        <a:t> Ingénierie des procédés en biologie industrielle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B050"/>
                        </a:buClr>
                        <a:buSzPct val="100000"/>
                        <a:buFont typeface="Courier New" charset="0"/>
                        <a:buNone/>
                        <a:tabLst/>
                      </a:pP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Management de la qualité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fr-FR" sz="1100" baseline="0" dirty="0"/>
                        <a:t>IONIS </a:t>
                      </a:r>
                      <a:r>
                        <a:rPr lang="fr-FR" sz="1100" baseline="0" dirty="0" err="1"/>
                        <a:t>School</a:t>
                      </a:r>
                      <a:r>
                        <a:rPr lang="fr-FR" sz="1100" baseline="0" dirty="0"/>
                        <a:t> of </a:t>
                      </a:r>
                      <a:r>
                        <a:rPr lang="fr-FR" sz="1100" baseline="0" dirty="0" err="1"/>
                        <a:t>Technology</a:t>
                      </a:r>
                      <a:r>
                        <a:rPr lang="fr-FR" sz="1100" baseline="0" dirty="0"/>
                        <a:t> and Management (94270 Kremlin-Bicêtre)</a:t>
                      </a:r>
                    </a:p>
                  </a:txBody>
                  <a:tcPr marL="86222" marR="86222" marT="43111" marB="431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670">
                <a:tc>
                  <a:txBody>
                    <a:bodyPr/>
                    <a:lstStyle/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baseline="0" dirty="0"/>
                        <a:t>      </a:t>
                      </a:r>
                      <a:r>
                        <a:rPr lang="fr-FR" sz="1100" b="1" dirty="0"/>
                        <a:t>2014</a:t>
                      </a:r>
                      <a:endParaRPr lang="fr-FR" sz="1100" b="1" i="0" dirty="0">
                        <a:solidFill>
                          <a:srgbClr val="58585A"/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marL="86222" marR="86222" marT="43111" marB="43111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Clr>
                          <a:srgbClr val="00B050"/>
                        </a:buClr>
                        <a:buSzPct val="100000"/>
                        <a:buFont typeface="Courier New" charset="0"/>
                        <a:buNone/>
                        <a:tabLst/>
                      </a:pPr>
                      <a:r>
                        <a:rPr lang="fr-FR" sz="1100" b="1" dirty="0"/>
                        <a:t>Master 2 en</a:t>
                      </a:r>
                      <a:r>
                        <a:rPr lang="fr-FR" sz="1100" b="1" baseline="0" dirty="0"/>
                        <a:t> Biologie Cellulaire Physiologie et Pathologie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B050"/>
                        </a:buClr>
                        <a:buSzPct val="100000"/>
                        <a:buFont typeface="Courier New" charset="0"/>
                        <a:buNone/>
                        <a:tabLst/>
                      </a:pPr>
                      <a:r>
                        <a:rPr lang="fr-FR" sz="1100" kern="1200" baseline="0" dirty="0"/>
                        <a:t>Spécialisation Biologie médicale :Maladies liées à l’alimentation (Obésité, Diabète)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Clr>
                          <a:srgbClr val="00B050"/>
                        </a:buClr>
                        <a:buSzPct val="100000"/>
                        <a:buFont typeface="Courier New" charset="0"/>
                        <a:buNone/>
                        <a:tabLst/>
                      </a:pPr>
                      <a:r>
                        <a:rPr lang="fr-FR" sz="1100" kern="1200" baseline="0" dirty="0"/>
                        <a:t>Université Paris 7 (75013 Paris)</a:t>
                      </a:r>
                      <a:endParaRPr lang="fr-FR" sz="1100" b="0" i="0" kern="120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charset="0"/>
                        <a:cs typeface="Times New Roman" charset="0"/>
                      </a:endParaRPr>
                    </a:p>
                  </a:txBody>
                  <a:tcPr marL="86222" marR="86222" marT="43111" marB="431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51889"/>
              </p:ext>
            </p:extLst>
          </p:nvPr>
        </p:nvGraphicFramePr>
        <p:xfrm>
          <a:off x="2151934" y="2354698"/>
          <a:ext cx="5194044" cy="52068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5369">
                <a:tc>
                  <a:txBody>
                    <a:bodyPr/>
                    <a:lstStyle/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baseline="0" dirty="0"/>
                        <a:t>Juin 2018 -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baseline="0" dirty="0"/>
                        <a:t>Juin 2024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baseline="0" dirty="0"/>
                        <a:t>Juin 2017 -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baseline="0" dirty="0"/>
                        <a:t>Juin 2018</a:t>
                      </a:r>
                    </a:p>
                    <a:p>
                      <a:pPr marL="7938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aseline="0" dirty="0"/>
                    </a:p>
                  </a:txBody>
                  <a:tcPr marL="86222" marR="86222" marT="43111" marB="43111"/>
                </a:tc>
                <a:tc>
                  <a:txBody>
                    <a:bodyPr/>
                    <a:lstStyle/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fr-FR" sz="1050" b="1" kern="1200" dirty="0"/>
                        <a:t>1 –Assurance Qualité VSI </a:t>
                      </a:r>
                      <a:r>
                        <a:rPr lang="fr-FR" sz="1050" b="1" kern="1200" baseline="0" dirty="0">
                          <a:solidFill>
                            <a:schemeClr val="tx1"/>
                          </a:solidFill>
                        </a:rPr>
                        <a:t>SANOFI R&amp;D Vitry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fr-FR" sz="1050" b="1" i="1" u="sng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Missions</a:t>
                      </a:r>
                      <a:r>
                        <a:rPr lang="fr-FR" sz="1050" b="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: Migration TRAPHS vers </a:t>
                      </a:r>
                      <a:r>
                        <a:rPr lang="fr-FR" sz="1050" b="0" i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Ivtracer</a:t>
                      </a:r>
                      <a:r>
                        <a:rPr lang="fr-FR" sz="1050" b="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-Upgrade </a:t>
                      </a:r>
                      <a:r>
                        <a:rPr lang="fr-FR" sz="1050" b="0" i="1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IVtracer</a:t>
                      </a:r>
                      <a:r>
                        <a:rPr lang="fr-FR" sz="1050" b="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V2– OURASI –- projets de l’arrêt d’été du bâtiment Emile Roux -</a:t>
                      </a: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Coordinatrice</a:t>
                      </a:r>
                      <a:r>
                        <a:rPr lang="fr-FR" sz="1050" b="0" kern="1200" baseline="0" dirty="0"/>
                        <a:t> entre le support applicatif et les laboratoires d’analyses et de production</a:t>
                      </a: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Audit des rapports </a:t>
                      </a:r>
                      <a:r>
                        <a:rPr lang="fr-FR" sz="105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 validation 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0" kern="1200" baseline="0" dirty="0">
                          <a:solidFill>
                            <a:schemeClr val="tx1"/>
                          </a:solidFill>
                        </a:rPr>
                        <a:t>Evaluation et suivi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Change Control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0" kern="1200" baseline="0" dirty="0"/>
                        <a:t>Suivi et validation de la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matrice de traçabilité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0" kern="1200" baseline="0" dirty="0"/>
                        <a:t>Validation Qualification d’Installation et Opérationnelle</a:t>
                      </a: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0" kern="1200" baseline="0" dirty="0"/>
                        <a:t>Evaluation des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anomalies</a:t>
                      </a:r>
                      <a:r>
                        <a:rPr lang="fr-FR" sz="1050" b="0" kern="1200" baseline="0" dirty="0"/>
                        <a:t> et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déviations</a:t>
                      </a:r>
                      <a:r>
                        <a:rPr lang="fr-FR" sz="1050" b="0" kern="1200" baseline="0" dirty="0"/>
                        <a:t> liées aux protocoles de test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0" kern="1200" baseline="0" dirty="0">
                          <a:solidFill>
                            <a:schemeClr val="tx1"/>
                          </a:solidFill>
                        </a:rPr>
                        <a:t>Rédaction de rapport de validation et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d’autorisation d’utilisation</a:t>
                      </a:r>
                      <a:r>
                        <a:rPr lang="fr-FR" sz="1050" b="0" kern="1200" baseline="0" dirty="0">
                          <a:solidFill>
                            <a:schemeClr val="tx1"/>
                          </a:solidFill>
                        </a:rPr>
                        <a:t> des SI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0" kern="1200" baseline="0" dirty="0">
                          <a:solidFill>
                            <a:schemeClr val="tx1"/>
                          </a:solidFill>
                        </a:rPr>
                        <a:t>Suivi et mise à jour de la fiche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inventaire des SI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Revue périodique </a:t>
                      </a:r>
                      <a:r>
                        <a:rPr lang="fr-FR" sz="1050" b="0" kern="1200" baseline="0" dirty="0" err="1">
                          <a:solidFill>
                            <a:schemeClr val="tx1"/>
                          </a:solidFill>
                        </a:rPr>
                        <a:t>IVtracer</a:t>
                      </a:r>
                      <a:endParaRPr lang="fr-FR" sz="1050" b="0" kern="120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Font typeface="Courier New" panose="02070309020205020404" pitchFamily="49" charset="0"/>
                        <a:buNone/>
                      </a:pPr>
                      <a:r>
                        <a:rPr lang="fr-FR" sz="1050" b="1" kern="1200" dirty="0"/>
                        <a:t>2-Assurance Qualité Métrologie</a:t>
                      </a:r>
                      <a:r>
                        <a:rPr lang="fr-FR" sz="1050" b="0" kern="1200" dirty="0"/>
                        <a:t>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fr-FR" sz="1050" b="1" i="1" u="sng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Missions</a:t>
                      </a:r>
                      <a:r>
                        <a:rPr lang="fr-FR" sz="1050" b="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1050" b="1" kern="1200" dirty="0">
                        <a:solidFill>
                          <a:srgbClr val="7030A0"/>
                        </a:solidFill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0" kern="1200" dirty="0"/>
                        <a:t>Coordonner et </a:t>
                      </a:r>
                      <a:r>
                        <a:rPr lang="fr-FR" sz="1050" b="1" kern="1200" dirty="0">
                          <a:solidFill>
                            <a:srgbClr val="7030A0"/>
                          </a:solidFill>
                        </a:rPr>
                        <a:t>Harmoniser</a:t>
                      </a:r>
                      <a:r>
                        <a:rPr lang="fr-FR" sz="1050" b="0" kern="1200" dirty="0"/>
                        <a:t> les méthodes de</a:t>
                      </a:r>
                      <a:r>
                        <a:rPr lang="fr-FR" sz="1050" b="0" kern="1200" baseline="0" dirty="0"/>
                        <a:t> vérification métrologiques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fr-FR" sz="1050" b="0" kern="1200" baseline="0" dirty="0"/>
                        <a:t>      des différents départements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0" kern="1200" baseline="0" dirty="0"/>
                        <a:t> </a:t>
                      </a:r>
                      <a:r>
                        <a:rPr lang="fr-FR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Gestion des déviations et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CAPA ( Corrective Action and </a:t>
                      </a:r>
                      <a:r>
                        <a:rPr lang="fr-FR" sz="1050" b="1" kern="1200" baseline="0" dirty="0" err="1">
                          <a:solidFill>
                            <a:srgbClr val="7030A0"/>
                          </a:solidFill>
                        </a:rPr>
                        <a:t>Preventive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 Action)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1" dirty="0">
                          <a:solidFill>
                            <a:srgbClr val="7030A0"/>
                          </a:solidFill>
                        </a:rPr>
                        <a:t>Audit  des rapports </a:t>
                      </a:r>
                      <a:r>
                        <a:rPr lang="fr-FR" sz="1050" b="0" dirty="0"/>
                        <a:t>de qualification et vérifications périodiques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0" dirty="0"/>
                        <a:t>Revue des cahiers techniques et protocoles fournisseur 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FR" sz="1050" b="1" dirty="0">
                          <a:solidFill>
                            <a:srgbClr val="7030A0"/>
                          </a:solidFill>
                        </a:rPr>
                        <a:t>Audit terrain </a:t>
                      </a:r>
                      <a:endParaRPr lang="fr-FR" sz="1050" b="0" kern="1200" dirty="0"/>
                    </a:p>
                    <a:p>
                      <a:pPr marL="171450" indent="-171450" algn="l">
                        <a:buFontTx/>
                        <a:buNone/>
                      </a:pPr>
                      <a:r>
                        <a:rPr lang="fr-FR" sz="1050" b="1" kern="1200" dirty="0"/>
                        <a:t>3-Formations</a:t>
                      </a:r>
                      <a:r>
                        <a:rPr lang="fr-FR" sz="1050" b="1" kern="1200" baseline="0" dirty="0"/>
                        <a:t> et Audits </a:t>
                      </a:r>
                      <a:r>
                        <a:rPr lang="fr-FR" sz="1050" b="0" kern="1200" dirty="0"/>
                        <a:t>: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="1" i="1" u="sng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Missions</a:t>
                      </a:r>
                      <a:r>
                        <a:rPr lang="fr-FR" sz="1050" b="0" i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1050" b="0" kern="1200" baseline="0" dirty="0"/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Mise en place d’un module de formation </a:t>
                      </a:r>
                      <a:r>
                        <a:rPr lang="fr-FR" sz="1050" b="0" kern="1200" baseline="0" dirty="0"/>
                        <a:t>« Data </a:t>
                      </a:r>
                      <a:r>
                        <a:rPr lang="fr-FR" sz="1050" b="0" kern="1200" baseline="0" dirty="0" err="1"/>
                        <a:t>Integrity</a:t>
                      </a:r>
                      <a:r>
                        <a:rPr lang="fr-FR" sz="1050" b="0" kern="1200" baseline="0" dirty="0"/>
                        <a:t> = Intégrité des données »: déploiement et </a:t>
                      </a: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formatrice</a:t>
                      </a:r>
                      <a:r>
                        <a:rPr lang="fr-FR" sz="1050" b="0" kern="1200" baseline="0" dirty="0"/>
                        <a:t> sur le site de Vitry R&amp;D </a:t>
                      </a:r>
                      <a:r>
                        <a:rPr lang="fr-FR" sz="1050" b="1" kern="1200" baseline="0" dirty="0"/>
                        <a:t>(500 employés formés)</a:t>
                      </a: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0" kern="1200" baseline="0" dirty="0"/>
                        <a:t> Mise en place de formation de mise en situation pour la préparation d’inspection </a:t>
                      </a:r>
                      <a:endParaRPr lang="fr-FR" sz="1050" b="1" kern="1200" baseline="0" dirty="0">
                        <a:solidFill>
                          <a:srgbClr val="7030A0"/>
                        </a:solidFill>
                      </a:endParaRPr>
                    </a:p>
                    <a:p>
                      <a:pPr marL="171450" marR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50" b="1" kern="1200" baseline="0" dirty="0">
                          <a:solidFill>
                            <a:srgbClr val="7030A0"/>
                          </a:solidFill>
                        </a:rPr>
                        <a:t>Membre « backroom » </a:t>
                      </a:r>
                      <a:r>
                        <a:rPr lang="fr-FR" sz="1050" b="0" kern="1200" baseline="0" dirty="0"/>
                        <a:t>aux inspections (ANSM= Agence National de Sécurité du Médicament et des produits de santé) et audits internes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50" b="1" i="1" u="sng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222" marR="86222" marT="43111" marB="431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0" name="Straight Connector 91"/>
          <p:cNvCxnSpPr>
            <a:cxnSpLocks/>
          </p:cNvCxnSpPr>
          <p:nvPr/>
        </p:nvCxnSpPr>
        <p:spPr>
          <a:xfrm>
            <a:off x="2957131" y="9202281"/>
            <a:ext cx="4605719" cy="16732"/>
          </a:xfrm>
          <a:prstGeom prst="line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à coins arrondis 60"/>
          <p:cNvSpPr/>
          <p:nvPr/>
        </p:nvSpPr>
        <p:spPr>
          <a:xfrm>
            <a:off x="377459" y="7441647"/>
            <a:ext cx="1307295" cy="296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Divers</a:t>
            </a:r>
          </a:p>
        </p:txBody>
      </p:sp>
      <p:graphicFrame>
        <p:nvGraphicFramePr>
          <p:cNvPr id="73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271849"/>
              </p:ext>
            </p:extLst>
          </p:nvPr>
        </p:nvGraphicFramePr>
        <p:xfrm>
          <a:off x="88444" y="7624273"/>
          <a:ext cx="1958340" cy="1302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2514">
                <a:tc>
                  <a:txBody>
                    <a:bodyPr/>
                    <a:lstStyle/>
                    <a:p>
                      <a:pPr marL="7938" indent="0" algn="ctr">
                        <a:lnSpc>
                          <a:spcPct val="100000"/>
                        </a:lnSpc>
                        <a:buFont typeface="Courier New" charset="0"/>
                        <a:buNone/>
                        <a:tabLst/>
                      </a:pPr>
                      <a:r>
                        <a:rPr lang="fr-FR" sz="1100" b="0" i="0" u="none" noProof="0" dirty="0">
                          <a:solidFill>
                            <a:srgbClr val="404042"/>
                          </a:solidFill>
                          <a:latin typeface="+mn-lt"/>
                          <a:ea typeface="Times New Roman" charset="0"/>
                          <a:cs typeface="Times New Roman" charset="0"/>
                        </a:rPr>
                        <a:t>Sport : Natation </a:t>
                      </a:r>
                    </a:p>
                    <a:p>
                      <a:pPr marL="7938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r>
                        <a:rPr lang="fr-FR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Décoratrice d’intérieur </a:t>
                      </a:r>
                    </a:p>
                    <a:p>
                      <a:pPr marL="7938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charset="0"/>
                        <a:buNone/>
                        <a:tabLst/>
                        <a:defRPr/>
                      </a:pPr>
                      <a:endParaRPr lang="fr-FR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lum bright="1000" contrast="4000"/>
          </a:blip>
          <a:srcRect/>
          <a:stretch>
            <a:fillRect/>
          </a:stretch>
        </p:blipFill>
        <p:spPr bwMode="auto">
          <a:xfrm>
            <a:off x="60960" y="565633"/>
            <a:ext cx="1392731" cy="1392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698" y="2132495"/>
            <a:ext cx="738324" cy="35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860" y="7482552"/>
            <a:ext cx="456247" cy="1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384" y="10360482"/>
            <a:ext cx="425965" cy="291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C:\Users\I0332039\Desktop\ionis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370" y="9281150"/>
            <a:ext cx="425965" cy="38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9356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Révolution.thmx</Template>
  <TotalTime>10814</TotalTime>
  <Words>473</Words>
  <Application>Microsoft Office PowerPoint</Application>
  <PresentationFormat>Personnalisé</PresentationFormat>
  <Paragraphs>87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Courier New</vt:lpstr>
      <vt:lpstr>Times New Roman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axel maille</dc:creator>
  <cp:lastModifiedBy>khadidjatou ly</cp:lastModifiedBy>
  <cp:revision>449</cp:revision>
  <cp:lastPrinted>2017-02-10T09:01:50Z</cp:lastPrinted>
  <dcterms:created xsi:type="dcterms:W3CDTF">2014-12-03T08:33:54Z</dcterms:created>
  <dcterms:modified xsi:type="dcterms:W3CDTF">2025-06-03T14:14:06Z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9088468-0951-4aef-9cc3-0a346e475ddc_Enabled">
    <vt:lpwstr>true</vt:lpwstr>
  </property>
  <property fmtid="{D5CDD505-2E9C-101B-9397-08002B2CF9AE}" pid="3" name="MSIP_Label_d9088468-0951-4aef-9cc3-0a346e475ddc_SetDate">
    <vt:lpwstr>2024-04-28T11:01:13Z</vt:lpwstr>
  </property>
  <property fmtid="{D5CDD505-2E9C-101B-9397-08002B2CF9AE}" pid="4" name="MSIP_Label_d9088468-0951-4aef-9cc3-0a346e475ddc_Method">
    <vt:lpwstr>Privileged</vt:lpwstr>
  </property>
  <property fmtid="{D5CDD505-2E9C-101B-9397-08002B2CF9AE}" pid="5" name="MSIP_Label_d9088468-0951-4aef-9cc3-0a346e475ddc_Name">
    <vt:lpwstr>Public</vt:lpwstr>
  </property>
  <property fmtid="{D5CDD505-2E9C-101B-9397-08002B2CF9AE}" pid="6" name="MSIP_Label_d9088468-0951-4aef-9cc3-0a346e475ddc_SiteId">
    <vt:lpwstr>aca3c8d6-aa71-4e1a-a10e-03572fc58c0b</vt:lpwstr>
  </property>
  <property fmtid="{D5CDD505-2E9C-101B-9397-08002B2CF9AE}" pid="7" name="MSIP_Label_d9088468-0951-4aef-9cc3-0a346e475ddc_ActionId">
    <vt:lpwstr>f925bc0e-4bda-46d7-a44d-9f9375eda9a8</vt:lpwstr>
  </property>
  <property fmtid="{D5CDD505-2E9C-101B-9397-08002B2CF9AE}" pid="8" name="MSIP_Label_d9088468-0951-4aef-9cc3-0a346e475ddc_ContentBits">
    <vt:lpwstr>0</vt:lpwstr>
  </property>
</Properties>
</file>